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 jest samplem draftu programu. Pozycjonowanie: wolnosciowa gospodarka z bilansem, w UE. Dane tylko ze zrodel; pozycje [do weryfikacji] pominiete na slajdach.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D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Shape 1"/>
          <p:cNvSpPr/>
          <p:nvPr/>
        </p:nvSpPr>
        <p:spPr>
          <a:xfrm>
            <a:off x="613014" y="613014"/>
            <a:ext cx="72420" cy="72420"/>
          </a:xfrm>
          <a:prstGeom prst="ellipse">
            <a:avLst/>
          </a:prstGeom>
          <a:solidFill>
            <a:srgbClr val="10173A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" y="5120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6C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WYBORCZY  ·  DRAFT ROBOCZY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Wolność gospodarcza</a:t>
            </a:r>
            <a:endParaRPr lang="en-US" sz="60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 bilansem.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48640" y="388620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6C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Obniżamy daniny. Pokazujemy rachunek co do pozycji. Robimy to w Europie, a nie przeciw niej.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4709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6A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Prowadzone przez kogoś, kto umie liczyć.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217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A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Materiał roboczy  ·  25 lipca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D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37160" cy="1371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Shape 1"/>
          <p:cNvSpPr/>
          <p:nvPr/>
        </p:nvSpPr>
        <p:spPr>
          <a:xfrm>
            <a:off x="592531" y="610819"/>
            <a:ext cx="49378" cy="49378"/>
          </a:xfrm>
          <a:prstGeom prst="ellipse">
            <a:avLst/>
          </a:prstGeom>
          <a:solidFill>
            <a:srgbClr val="10173A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6C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DIAGNOZA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Nie „państwo za duże”. „Państwo marnuje wasze pieniądze”.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6A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Spór o wielkość państwa jest przegrany, zanim się zacznie: od 68 do 80 proc. wyborców we wszystkich trzech grupach docelowych chce państwa opiekuńczego. Oś, którą zajmujemy, jest inna, a liczby są po naszej stronie.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383280"/>
            <a:ext cx="3444240" cy="2468880"/>
          </a:xfrm>
          <a:prstGeom prst="roundRect">
            <a:avLst>
              <a:gd name="adj" fmla="val 3333"/>
            </a:avLst>
          </a:prstGeom>
          <a:solidFill>
            <a:srgbClr val="1F2755"/>
          </a:solidFill>
          <a:ln w="12700">
            <a:solidFill>
              <a:srgbClr val="2C356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3611880"/>
            <a:ext cx="289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proc.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822960" y="4572000"/>
            <a:ext cx="289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uważa, że pieniądze publiczne są wydawane nieracjonalnie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5486400"/>
            <a:ext cx="289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6A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CBOS 85/2016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58640" y="3383280"/>
            <a:ext cx="3444240" cy="2468880"/>
          </a:xfrm>
          <a:prstGeom prst="roundRect">
            <a:avLst>
              <a:gd name="adj" fmla="val 3333"/>
            </a:avLst>
          </a:prstGeom>
          <a:solidFill>
            <a:srgbClr val="1F2755"/>
          </a:solidFill>
          <a:ln w="12700">
            <a:solidFill>
              <a:srgbClr val="2C356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32960" y="3611880"/>
            <a:ext cx="289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 proc.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4632960" y="4572000"/>
            <a:ext cx="289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że podatki są za wysokie wobec tego, co państwo daje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32960" y="5486400"/>
            <a:ext cx="289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6A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CBOS 85/2016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68640" y="3383280"/>
            <a:ext cx="3444240" cy="2468880"/>
          </a:xfrm>
          <a:prstGeom prst="roundRect">
            <a:avLst>
              <a:gd name="adj" fmla="val 3333"/>
            </a:avLst>
          </a:prstGeom>
          <a:solidFill>
            <a:srgbClr val="1F2755"/>
          </a:solidFill>
          <a:ln w="12700">
            <a:solidFill>
              <a:srgbClr val="2C356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442960" y="3611880"/>
            <a:ext cx="289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53,3 proc.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8442960" y="4572000"/>
            <a:ext cx="289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że rządy poprzedników nie zostały rozliczone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42960" y="5486400"/>
            <a:ext cx="289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6A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 Research VII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D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37160" cy="1371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Shape 1"/>
          <p:cNvSpPr/>
          <p:nvPr/>
        </p:nvSpPr>
        <p:spPr>
          <a:xfrm>
            <a:off x="592531" y="610819"/>
            <a:ext cx="49378" cy="49378"/>
          </a:xfrm>
          <a:prstGeom prst="ellipse">
            <a:avLst/>
          </a:prstGeom>
          <a:solidFill>
            <a:srgbClr val="10173A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6C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KLAMRA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Odsetki są dziś drugim programem społecznym państwa.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074920" cy="3108960"/>
          </a:xfrm>
          <a:prstGeom prst="roundRect">
            <a:avLst>
              <a:gd name="adj" fmla="val 2647"/>
            </a:avLst>
          </a:prstGeom>
          <a:solidFill>
            <a:srgbClr val="1F2755"/>
          </a:solidFill>
          <a:ln w="12700">
            <a:solidFill>
              <a:srgbClr val="2C356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697480"/>
            <a:ext cx="4343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04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115 mld zł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914400" y="374904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obsługa długu publicznego w 2026 r.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434340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A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Wypłacane posiadaczom obligacji, nie rodzinom.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760720" y="3566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6C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większe niż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60920" y="2286000"/>
            <a:ext cx="5074920" cy="3108960"/>
          </a:xfrm>
          <a:prstGeom prst="roundRect">
            <a:avLst>
              <a:gd name="adj" fmla="val 2647"/>
            </a:avLst>
          </a:prstGeom>
          <a:solidFill>
            <a:srgbClr val="1A214C"/>
          </a:solidFill>
          <a:ln w="12700">
            <a:solidFill>
              <a:srgbClr val="2C356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26680" y="2697480"/>
            <a:ext cx="4343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106,5 mld zł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7726680" y="374904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plus, 13. i 14. emerytura, renta wdowia i babciowe razem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26680" y="452628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A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Wszystkie flagowe transfery łącznie (budżet 2026).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6C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Państwo żyje na kredyt, a rachunek płacą młodzi. Każdy konkret odpowiada na jedno pytanie: jak przestać przepłacać.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D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37160" cy="1371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Shape 1"/>
          <p:cNvSpPr/>
          <p:nvPr/>
        </p:nvSpPr>
        <p:spPr>
          <a:xfrm>
            <a:off x="592531" y="610819"/>
            <a:ext cx="49378" cy="49378"/>
          </a:xfrm>
          <a:prstGeom prst="ellipse">
            <a:avLst/>
          </a:prstGeom>
          <a:solidFill>
            <a:srgbClr val="10173A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6C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 FISKALNY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Nasza ścieżka, nie wyższe podatki.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6A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Konsolidacja nastąpi tak czy inaczej, bo wymusza ją procedura nadmiernego deficytu. Wybór nie jest między konsolidacją a jej brakiem, tylko między tańszym państwem a wyższymi podatkami. Tniemy marnotrawstwo, nie transfery do rodzin i emerytów.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3444240" cy="2194560"/>
          </a:xfrm>
          <a:prstGeom prst="roundRect">
            <a:avLst>
              <a:gd name="adj" fmla="val 3750"/>
            </a:avLst>
          </a:prstGeom>
          <a:solidFill>
            <a:srgbClr val="1F2755"/>
          </a:solidFill>
          <a:ln w="12700">
            <a:solidFill>
              <a:srgbClr val="2C356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3794760"/>
            <a:ext cx="289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7,3 proc. PKB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22960" y="4709160"/>
            <a:ext cx="289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deficyt sektora w 2025 r., najwyższy w całej Unii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58640" y="3566160"/>
            <a:ext cx="3444240" cy="2194560"/>
          </a:xfrm>
          <a:prstGeom prst="roundRect">
            <a:avLst>
              <a:gd name="adj" fmla="val 3750"/>
            </a:avLst>
          </a:prstGeom>
          <a:solidFill>
            <a:srgbClr val="1F2755"/>
          </a:solidFill>
          <a:ln w="12700">
            <a:solidFill>
              <a:srgbClr val="2C356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32960" y="3794760"/>
            <a:ext cx="289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~60 proc. PKB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632960" y="4709160"/>
            <a:ext cx="289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dług EDP, prognoza MF 65,1 proc. na 2026 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68640" y="3566160"/>
            <a:ext cx="3444240" cy="2194560"/>
          </a:xfrm>
          <a:prstGeom prst="roundRect">
            <a:avLst>
              <a:gd name="adj" fmla="val 3750"/>
            </a:avLst>
          </a:prstGeom>
          <a:solidFill>
            <a:srgbClr val="1A214C"/>
          </a:solidFill>
          <a:ln w="12700">
            <a:solidFill>
              <a:srgbClr val="2C356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42960" y="3794760"/>
            <a:ext cx="289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3B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poniżej 3 proc.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442960" y="4709160"/>
            <a:ext cx="289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nasz cel deficytu do 2028 r., zgodny z EDP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6C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Mamy prawo obiecywać obniżki, bo najpierw pokazujemy, skąd wziąć pieniądze.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D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37160" cy="1371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Shape 1"/>
          <p:cNvSpPr/>
          <p:nvPr/>
        </p:nvSpPr>
        <p:spPr>
          <a:xfrm>
            <a:off x="592531" y="610819"/>
            <a:ext cx="49378" cy="49378"/>
          </a:xfrm>
          <a:prstGeom prst="ellipse">
            <a:avLst/>
          </a:prstGeom>
          <a:solidFill>
            <a:srgbClr val="10173A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6C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TRZY ZASADY KAŻDEGO KONKRETU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Jak piszemy ten program.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11064240" cy="1133856"/>
          </a:xfrm>
          <a:prstGeom prst="roundRect">
            <a:avLst>
              <a:gd name="adj" fmla="val 7258"/>
            </a:avLst>
          </a:prstGeom>
          <a:solidFill>
            <a:srgbClr val="1F2755"/>
          </a:solidFill>
          <a:ln w="12700">
            <a:solidFill>
              <a:srgbClr val="2C356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51460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103120" y="24963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C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Kwota w kieszeni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103120" y="2898648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Każda obietnica ma skutek w złotówkach na poziomie gospodarstwa domowego lub firmy, nie tylko budżetu państwa.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630168"/>
            <a:ext cx="11064240" cy="1133856"/>
          </a:xfrm>
          <a:prstGeom prst="roundRect">
            <a:avLst>
              <a:gd name="adj" fmla="val 7258"/>
            </a:avLst>
          </a:prstGeom>
          <a:solidFill>
            <a:srgbClr val="1F2755"/>
          </a:solidFill>
          <a:ln w="12700">
            <a:solidFill>
              <a:srgbClr val="2C356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3813048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2103120" y="3794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C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Zawsze z pokryciem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103120" y="4197096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Każdy postulat ma wskazane źródło finansowania. Obietnica bez rachunku rozpada się od jednego pytania.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928616"/>
            <a:ext cx="11064240" cy="1133856"/>
          </a:xfrm>
          <a:prstGeom prst="roundRect">
            <a:avLst>
              <a:gd name="adj" fmla="val 7258"/>
            </a:avLst>
          </a:prstGeom>
          <a:solidFill>
            <a:srgbClr val="1F2755"/>
          </a:solidFill>
          <a:ln w="12700">
            <a:solidFill>
              <a:srgbClr val="2C356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5111496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2103120" y="50932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C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Bez zmyślonych liczb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103120" y="5495544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Liczby niepewne oznaczamy jako do weryfikacji i nie zastępujemy ich wymyślonym miliardem.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88920"/>
            <a:ext cx="256032" cy="25603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Shape 1"/>
          <p:cNvSpPr/>
          <p:nvPr/>
        </p:nvSpPr>
        <p:spPr>
          <a:xfrm>
            <a:off x="630570" y="2870850"/>
            <a:ext cx="92172" cy="92172"/>
          </a:xfrm>
          <a:prstGeom prst="ellipse">
            <a:avLst/>
          </a:prstGeom>
          <a:solidFill>
            <a:srgbClr val="10173A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2514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6C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OBSZAR 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05840" y="28803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Gospodarka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005840" y="40233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6A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konkretów: obniżki z rachunkiem, tańsze i sprawniejsze państwo.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D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37160" cy="1371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Shape 1"/>
          <p:cNvSpPr/>
          <p:nvPr/>
        </p:nvSpPr>
        <p:spPr>
          <a:xfrm>
            <a:off x="592531" y="610819"/>
            <a:ext cx="49378" cy="49378"/>
          </a:xfrm>
          <a:prstGeom prst="ellipse">
            <a:avLst/>
          </a:prstGeom>
          <a:solidFill>
            <a:srgbClr val="10173A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6C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KONKRET FLAGOWY  ·  PIERWSZA USTAWA KADENCJI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Obniżka składki zdrowotnej dla przedsiębiorców.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6766560" cy="3749040"/>
          </a:xfrm>
          <a:prstGeom prst="roundRect">
            <a:avLst>
              <a:gd name="adj" fmla="val 2195"/>
            </a:avLst>
          </a:prstGeom>
          <a:solidFill>
            <a:srgbClr val="1F2755"/>
          </a:solidFill>
          <a:ln w="12700">
            <a:solidFill>
              <a:srgbClr val="2C356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56032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C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Obietnica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871216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Koniec skoku obowiązkowej składki z 314,96 do 432,54 zł miesięcznie, który wszedł od 2026 r. Wracamy do odliczalności części składki.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694176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C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Realizacja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0050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Gotowa ustawa istnieje: Sejm ją przyjął, prezydent Andrzej Duda zawetował 6 maja 2025 r. Wnosimy ten sam projekt jako pierwszą ustawę kadencji.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828032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C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Finansowanie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5138928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Koszt liczony w pojedynczych miliardach zł rocznie. Pokrycie: przegląd ulg i konsolidacja funduszy pozabudżetowych.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680960" y="2286000"/>
            <a:ext cx="3931920" cy="1783080"/>
          </a:xfrm>
          <a:prstGeom prst="roundRect">
            <a:avLst>
              <a:gd name="adj" fmla="val 4615"/>
            </a:avLst>
          </a:prstGeom>
          <a:solidFill>
            <a:srgbClr val="1A214C"/>
          </a:solidFill>
          <a:ln w="12700">
            <a:solidFill>
              <a:srgbClr val="2C356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01000" y="248716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72,8 proc.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001000" y="32004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 obniżką składki dla działalności (IBRiS). W pytaniu wprost: 46,4 proc. za, 29,4 proc. przeciw.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680960" y="4251960"/>
            <a:ext cx="3931920" cy="1783080"/>
          </a:xfrm>
          <a:prstGeom prst="roundRect">
            <a:avLst>
              <a:gd name="adj" fmla="val 4615"/>
            </a:avLst>
          </a:prstGeom>
          <a:solidFill>
            <a:srgbClr val="1F2755"/>
          </a:solidFill>
          <a:ln w="12700">
            <a:solidFill>
              <a:srgbClr val="2C356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001000" y="44805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6C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 mln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001000" y="513892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firm, których dotyczy. Prawie 70 proc. Polaków nie wierzy, że wyższa składka poprawia leczenie.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D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37160" cy="1371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Shape 1"/>
          <p:cNvSpPr/>
          <p:nvPr/>
        </p:nvSpPr>
        <p:spPr>
          <a:xfrm>
            <a:off x="592531" y="610819"/>
            <a:ext cx="49378" cy="49378"/>
          </a:xfrm>
          <a:prstGeom prst="ellipse">
            <a:avLst/>
          </a:prstGeom>
          <a:solidFill>
            <a:srgbClr val="10173A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6C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PRZEJRZYSTOŚĆ I TAŃSZE PAŃSTWO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Najpierw pokazujemy, skąd pieniądze.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3474720" cy="1874520"/>
          </a:xfrm>
          <a:prstGeom prst="roundRect">
            <a:avLst>
              <a:gd name="adj" fmla="val 4390"/>
            </a:avLst>
          </a:prstGeom>
          <a:solidFill>
            <a:srgbClr val="1F2755"/>
          </a:solidFill>
          <a:ln w="12700">
            <a:solidFill>
              <a:srgbClr val="2C356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2423160"/>
            <a:ext cx="2962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C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Rada Fiskalna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2898648"/>
            <a:ext cx="29626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Niezależne ciało recenzuje każdy budżet i dużą obietnicę, zanim trafi pod głosowanie.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3803904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koszt znikomy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3400" y="2240280"/>
            <a:ext cx="3474720" cy="1874520"/>
          </a:xfrm>
          <a:prstGeom prst="roundRect">
            <a:avLst>
              <a:gd name="adj" fmla="val 4390"/>
            </a:avLst>
          </a:prstGeom>
          <a:solidFill>
            <a:srgbClr val="1F2755"/>
          </a:solidFill>
          <a:ln w="12700">
            <a:solidFill>
              <a:srgbClr val="2C356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99432" y="2423160"/>
            <a:ext cx="2962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C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Konsolidacja funduszy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99432" y="2898648"/>
            <a:ext cx="29626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Koniec równoległego budżetu w BGK i PFR. Emisja długu wraca do Skarbu Państwa.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99432" y="3803904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12 mld zł oszczędności (NIK)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2240280"/>
            <a:ext cx="3474720" cy="1874520"/>
          </a:xfrm>
          <a:prstGeom prst="roundRect">
            <a:avLst>
              <a:gd name="adj" fmla="val 4390"/>
            </a:avLst>
          </a:prstGeom>
          <a:solidFill>
            <a:srgbClr val="1F2755"/>
          </a:solidFill>
          <a:ln w="12700">
            <a:solidFill>
              <a:srgbClr val="2C356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94192" y="2423160"/>
            <a:ext cx="2962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C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Jeden uczciwy licznik długu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94192" y="2898648"/>
            <a:ext cx="29626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Definicja długu zgodna z Eurostatem obejmie to, co dziś chowane w funduszach.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94192" y="3803904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~422 mld zł dziś ukryte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434840"/>
            <a:ext cx="3474720" cy="1874520"/>
          </a:xfrm>
          <a:prstGeom prst="roundRect">
            <a:avLst>
              <a:gd name="adj" fmla="val 4390"/>
            </a:avLst>
          </a:prstGeom>
          <a:solidFill>
            <a:srgbClr val="1F2755"/>
          </a:solidFill>
          <a:ln w="12700">
            <a:solidFill>
              <a:srgbClr val="2C356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04672" y="4617720"/>
            <a:ext cx="2962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C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Reguła antycykliczna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4672" y="5093208"/>
            <a:ext cx="29626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Zakaz zadłużania w dobrej koniunkturze. Tańsze państwo dziś to tańszy kredyt jutro.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4672" y="5998464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bezkosztowe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343400" y="4434840"/>
            <a:ext cx="3474720" cy="1874520"/>
          </a:xfrm>
          <a:prstGeom prst="roundRect">
            <a:avLst>
              <a:gd name="adj" fmla="val 4390"/>
            </a:avLst>
          </a:prstGeom>
          <a:solidFill>
            <a:srgbClr val="1F2755"/>
          </a:solidFill>
          <a:ln w="12700">
            <a:solidFill>
              <a:srgbClr val="2C356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99432" y="4617720"/>
            <a:ext cx="2962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C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Odpartyjnienie spółek SP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99432" y="5093208"/>
            <a:ext cx="29626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Zewnętrzny nabór do zarządów, kadencyjność szefów regulatorów. Koniec państwa łupów.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99432" y="5998464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 prywatyzacji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138160" y="4434840"/>
            <a:ext cx="3474720" cy="1874520"/>
          </a:xfrm>
          <a:prstGeom prst="roundRect">
            <a:avLst>
              <a:gd name="adj" fmla="val 4390"/>
            </a:avLst>
          </a:prstGeom>
          <a:solidFill>
            <a:srgbClr val="1F2755"/>
          </a:solidFill>
          <a:ln w="12700">
            <a:solidFill>
              <a:srgbClr val="2C356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394192" y="4617720"/>
            <a:ext cx="2962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C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Przegląd ulg podatkowych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394192" y="5093208"/>
            <a:ext cx="29626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Jawny rachunek kosztu każdej ulgi i likwidacja nieuzasadnionych wyjątków.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394192" y="5998464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źródło pokrycia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D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37160" cy="1371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Shape 1"/>
          <p:cNvSpPr/>
          <p:nvPr/>
        </p:nvSpPr>
        <p:spPr>
          <a:xfrm>
            <a:off x="592531" y="610819"/>
            <a:ext cx="49378" cy="49378"/>
          </a:xfrm>
          <a:prstGeom prst="ellipse">
            <a:avLst/>
          </a:prstGeom>
          <a:solidFill>
            <a:srgbClr val="10173A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6C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NIŻSZE DANINY, Z RACHUNKIEM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Obniżki, które da się policzyć.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3474720" cy="1874520"/>
          </a:xfrm>
          <a:prstGeom prst="roundRect">
            <a:avLst>
              <a:gd name="adj" fmla="val 4390"/>
            </a:avLst>
          </a:prstGeom>
          <a:solidFill>
            <a:srgbClr val="1F2755"/>
          </a:solidFill>
          <a:ln w="12700">
            <a:solidFill>
              <a:srgbClr val="2C356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2423160"/>
            <a:ext cx="2962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C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Waloryzacja kwoty wolnej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2898648"/>
            <a:ext cx="29626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Kwota wolna wiązana z płacą minimalną i indeksowana co roku. Świadomie NIE licytujemy skokiem do 60 tys.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3803904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policzalne, nie 48 mld zł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3400" y="2240280"/>
            <a:ext cx="3474720" cy="1874520"/>
          </a:xfrm>
          <a:prstGeom prst="roundRect">
            <a:avLst>
              <a:gd name="adj" fmla="val 4390"/>
            </a:avLst>
          </a:prstGeom>
          <a:solidFill>
            <a:srgbClr val="1F2755"/>
          </a:solidFill>
          <a:ln w="12700">
            <a:solidFill>
              <a:srgbClr val="2C356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99432" y="2423160"/>
            <a:ext cx="2962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C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Estoński CIT dla wszystkich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99432" y="2898648"/>
            <a:ext cx="29626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Zysk zostawiony w firmie na inwestycje nie jest opodatkowany, dopóki nie zostanie wypłacony.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99432" y="3803904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premia za rozwój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2240280"/>
            <a:ext cx="3474720" cy="1874520"/>
          </a:xfrm>
          <a:prstGeom prst="roundRect">
            <a:avLst>
              <a:gd name="adj" fmla="val 4390"/>
            </a:avLst>
          </a:prstGeom>
          <a:solidFill>
            <a:srgbClr val="1F2755"/>
          </a:solidFill>
          <a:ln w="12700">
            <a:solidFill>
              <a:srgbClr val="2C356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94192" y="2423160"/>
            <a:ext cx="2962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C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Kasowy PIT i VAT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94192" y="2898648"/>
            <a:ext cx="29626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Mała firma płaci podatek dopiero, gdy sama dostanie zapłatę, nie przy wystawieniu faktury.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94192" y="3803904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koniec kredytowania państwa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434840"/>
            <a:ext cx="3474720" cy="1874520"/>
          </a:xfrm>
          <a:prstGeom prst="roundRect">
            <a:avLst>
              <a:gd name="adj" fmla="val 4390"/>
            </a:avLst>
          </a:prstGeom>
          <a:solidFill>
            <a:srgbClr val="1F2755"/>
          </a:solidFill>
          <a:ln w="12700">
            <a:solidFill>
              <a:srgbClr val="2C356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04672" y="4617720"/>
            <a:ext cx="2962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C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Podatek Belki dla oszczędzających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4672" y="5093208"/>
            <a:ext cx="29626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Kto oszczędza dłużej niż rok, nie płaci podatku od zysków do limitu. Nagradzamy oszczędzanie.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4672" y="5998464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wariant limitowany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343400" y="4434840"/>
            <a:ext cx="3474720" cy="1874520"/>
          </a:xfrm>
          <a:prstGeom prst="roundRect">
            <a:avLst>
              <a:gd name="adj" fmla="val 4390"/>
            </a:avLst>
          </a:prstGeom>
          <a:solidFill>
            <a:srgbClr val="1F2755"/>
          </a:solidFill>
          <a:ln w="12700">
            <a:solidFill>
              <a:srgbClr val="2C356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99432" y="4617720"/>
            <a:ext cx="2962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C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Dobrowolny ZUS, etapowo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99432" y="5093208"/>
            <a:ext cx="29626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Realny wybór wysokości składki, zawsze z pokazanym skutkiem dla przyszłej emerytury.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99432" y="5998464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zależne od wyceny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138160" y="4434840"/>
            <a:ext cx="3474720" cy="1874520"/>
          </a:xfrm>
          <a:prstGeom prst="roundRect">
            <a:avLst>
              <a:gd name="adj" fmla="val 4390"/>
            </a:avLst>
          </a:prstGeom>
          <a:solidFill>
            <a:srgbClr val="1F2755"/>
          </a:solidFill>
          <a:ln w="12700">
            <a:solidFill>
              <a:srgbClr val="2C356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394192" y="4617720"/>
            <a:ext cx="2962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C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Niższy klin od pracy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394192" y="5093208"/>
            <a:ext cx="29626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Docelowo jedna danina i jeden przelew zamiast kilkunastu operacji. Więcej z wypłaty w kieszeni.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394192" y="5998464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kierunek na lata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D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37160" cy="1371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Shape 1"/>
          <p:cNvSpPr/>
          <p:nvPr/>
        </p:nvSpPr>
        <p:spPr>
          <a:xfrm>
            <a:off x="592531" y="610819"/>
            <a:ext cx="49378" cy="49378"/>
          </a:xfrm>
          <a:prstGeom prst="ellipse">
            <a:avLst/>
          </a:prstGeom>
          <a:solidFill>
            <a:srgbClr val="10173A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6C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PROSTSZE PAŃSTWO DLA FIRM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Państwo domniemywa uczciwość obywatela.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5372100" cy="1874520"/>
          </a:xfrm>
          <a:prstGeom prst="roundRect">
            <a:avLst>
              <a:gd name="adj" fmla="val 4390"/>
            </a:avLst>
          </a:prstGeom>
          <a:solidFill>
            <a:srgbClr val="1F2755"/>
          </a:solidFill>
          <a:ln w="12700">
            <a:solidFill>
              <a:srgbClr val="2C356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2423160"/>
            <a:ext cx="48600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C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Milcząca zgoda urzędu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2898648"/>
            <a:ext cx="48600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odpowiedzi w terminie oznacza sprawę załatwioną na Twoją korzyść. Oświadczenia zamiast zaświadczeń.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3803904"/>
            <a:ext cx="48600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koszt zerowy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40780" y="2240280"/>
            <a:ext cx="5372100" cy="1874520"/>
          </a:xfrm>
          <a:prstGeom prst="roundRect">
            <a:avLst>
              <a:gd name="adj" fmla="val 4390"/>
            </a:avLst>
          </a:prstGeom>
          <a:solidFill>
            <a:srgbClr val="1F2755"/>
          </a:solidFill>
          <a:ln w="12700">
            <a:solidFill>
              <a:srgbClr val="2C356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6812" y="2423160"/>
            <a:ext cx="48600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C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Reguła „dwa za jeden”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6812" y="2898648"/>
            <a:ext cx="48600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 każdy nowy obowiązek dla firm rząd usuwa dwa istniejące. Hamulec na inflację prawa.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6812" y="3803904"/>
            <a:ext cx="48600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31 745 stron prawa w 2022 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434840"/>
            <a:ext cx="5372100" cy="1874520"/>
          </a:xfrm>
          <a:prstGeom prst="roundRect">
            <a:avLst>
              <a:gd name="adj" fmla="val 4390"/>
            </a:avLst>
          </a:prstGeom>
          <a:solidFill>
            <a:srgbClr val="1F2755"/>
          </a:solidFill>
          <a:ln w="12700">
            <a:solidFill>
              <a:srgbClr val="2C356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4672" y="4617720"/>
            <a:ext cx="48600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C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Firma i spółka w 24 h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04672" y="5093208"/>
            <a:ext cx="48600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Założenie firmy, rejestracja spółki i obsługa w całości online, w jeden dzień.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4672" y="5998464"/>
            <a:ext cx="48600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państwo jako usługa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40780" y="4434840"/>
            <a:ext cx="5372100" cy="1874520"/>
          </a:xfrm>
          <a:prstGeom prst="roundRect">
            <a:avLst>
              <a:gd name="adj" fmla="val 4390"/>
            </a:avLst>
          </a:prstGeom>
          <a:solidFill>
            <a:srgbClr val="1F2755"/>
          </a:solidFill>
          <a:ln w="12700">
            <a:solidFill>
              <a:srgbClr val="2C356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96812" y="4617720"/>
            <a:ext cx="48600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C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Superulga B+R 200 proc.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6812" y="5093208"/>
            <a:ext cx="48600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Podwójne odliczenie kosztów badań i rozwoju, bez zbierania poświadczeń instytucji.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6812" y="5998464"/>
            <a:ext cx="48600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rynek zamiast grantów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88920"/>
            <a:ext cx="256032" cy="25603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Shape 1"/>
          <p:cNvSpPr/>
          <p:nvPr/>
        </p:nvSpPr>
        <p:spPr>
          <a:xfrm>
            <a:off x="630570" y="2870850"/>
            <a:ext cx="92172" cy="92172"/>
          </a:xfrm>
          <a:prstGeom prst="ellipse">
            <a:avLst/>
          </a:prstGeom>
          <a:solidFill>
            <a:srgbClr val="10173A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2514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6C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OBSZAR II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05840" y="28803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Polityka zagraniczna i bezpieczeństwo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005840" y="40233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6A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konkretów: bezpieczeństwo z audytem, więcej rynku w Europie.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D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37160" cy="1371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Shape 1"/>
          <p:cNvSpPr/>
          <p:nvPr/>
        </p:nvSpPr>
        <p:spPr>
          <a:xfrm>
            <a:off x="592531" y="610819"/>
            <a:ext cx="49378" cy="49378"/>
          </a:xfrm>
          <a:prstGeom prst="ellipse">
            <a:avLst/>
          </a:prstGeom>
          <a:solidFill>
            <a:srgbClr val="10173A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6C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BEZPIECZEŃSTWO Z AUDYTEM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Nie licytujemy procentów. Pytamy o efekt.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3474720" cy="1874520"/>
          </a:xfrm>
          <a:prstGeom prst="roundRect">
            <a:avLst>
              <a:gd name="adj" fmla="val 4390"/>
            </a:avLst>
          </a:prstGeom>
          <a:solidFill>
            <a:srgbClr val="1F2755"/>
          </a:solidFill>
          <a:ln w="12700">
            <a:solidFill>
              <a:srgbClr val="2C356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2423160"/>
            <a:ext cx="2962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C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Zbrojenia w budżecie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2898648"/>
            <a:ext cx="29626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Koniec zbrojeń na kredyt poza budżetem. Każda złotówka przez Sejm, więc pożyczamy taniej.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3803904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79,5 mld zł dziś poza budżetem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3400" y="2240280"/>
            <a:ext cx="3474720" cy="1874520"/>
          </a:xfrm>
          <a:prstGeom prst="roundRect">
            <a:avLst>
              <a:gd name="adj" fmla="val 4390"/>
            </a:avLst>
          </a:prstGeom>
          <a:solidFill>
            <a:srgbClr val="1F2755"/>
          </a:solidFill>
          <a:ln w="12700">
            <a:solidFill>
              <a:srgbClr val="2C356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99432" y="2423160"/>
            <a:ext cx="2962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C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Audyt zamiast licytacji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99432" y="2898648"/>
            <a:ext cx="29626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kto obieca wyższy procent PKB, tylko czy dobrze wydajemy te ~200 mld zł.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99432" y="3803904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więcej zdolności za tę samą kwotę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2240280"/>
            <a:ext cx="3474720" cy="1874520"/>
          </a:xfrm>
          <a:prstGeom prst="roundRect">
            <a:avLst>
              <a:gd name="adj" fmla="val 4390"/>
            </a:avLst>
          </a:prstGeom>
          <a:solidFill>
            <a:srgbClr val="1F2755"/>
          </a:solidFill>
          <a:ln w="12700">
            <a:solidFill>
              <a:srgbClr val="2C356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94192" y="2423160"/>
            <a:ext cx="2962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C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Jawność kontraktów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94192" y="2898648"/>
            <a:ext cx="29626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Podstawowe parametry umów zbrojeniowych jawne, poza uzasadnioną tajemnicą.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94192" y="3803904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mniej marnotrawstwa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434840"/>
            <a:ext cx="3474720" cy="1874520"/>
          </a:xfrm>
          <a:prstGeom prst="roundRect">
            <a:avLst>
              <a:gd name="adj" fmla="val 4390"/>
            </a:avLst>
          </a:prstGeom>
          <a:solidFill>
            <a:srgbClr val="1F2755"/>
          </a:solidFill>
          <a:ln w="12700">
            <a:solidFill>
              <a:srgbClr val="2C356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04672" y="4617720"/>
            <a:ext cx="2962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C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European Sky Shield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4672" y="5093208"/>
            <a:ext cx="29626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Wspólne europejskie zakupy i parasol obrony powietrznej. Taniej i bez jednego dostawcy.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4672" y="5998464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niższa cena jednostkowa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343400" y="4434840"/>
            <a:ext cx="3474720" cy="1874520"/>
          </a:xfrm>
          <a:prstGeom prst="roundRect">
            <a:avLst>
              <a:gd name="adj" fmla="val 4390"/>
            </a:avLst>
          </a:prstGeom>
          <a:solidFill>
            <a:srgbClr val="1F2755"/>
          </a:solidFill>
          <a:ln w="12700">
            <a:solidFill>
              <a:srgbClr val="2C356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99432" y="4617720"/>
            <a:ext cx="2962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C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Przemysł jako dźwignia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99432" y="5093208"/>
            <a:ext cx="29626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proc. PKB na obronę ma budować polskie miejsca pracy i technologie, na wzór izraelski.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99432" y="5998464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zwrot przez eksport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138160" y="4434840"/>
            <a:ext cx="3474720" cy="1874520"/>
          </a:xfrm>
          <a:prstGeom prst="roundRect">
            <a:avLst>
              <a:gd name="adj" fmla="val 4390"/>
            </a:avLst>
          </a:prstGeom>
          <a:solidFill>
            <a:srgbClr val="1F2755"/>
          </a:solidFill>
          <a:ln w="12700">
            <a:solidFill>
              <a:srgbClr val="2C356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394192" y="4617720"/>
            <a:ext cx="2962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C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Offset 50 proc. w kraju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394192" y="5093208"/>
            <a:ext cx="29626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najmniej połowa wartości modernizacji zostaje w polskich zakładach, z serwisem.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394192" y="5998464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bezpieczeństwo i gospodarka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1D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37160" cy="1371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Shape 1"/>
          <p:cNvSpPr/>
          <p:nvPr/>
        </p:nvSpPr>
        <p:spPr>
          <a:xfrm>
            <a:off x="592531" y="610819"/>
            <a:ext cx="49378" cy="49378"/>
          </a:xfrm>
          <a:prstGeom prst="ellipse">
            <a:avLst/>
          </a:prstGeom>
          <a:solidFill>
            <a:srgbClr val="10173A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6C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WIĘCEJ RYNKU W EUROPIE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Tańsza Europa wewnątrz Unii, nie przeciw niej.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3474720" cy="1874520"/>
          </a:xfrm>
          <a:prstGeom prst="roundRect">
            <a:avLst>
              <a:gd name="adj" fmla="val 4390"/>
            </a:avLst>
          </a:prstGeom>
          <a:solidFill>
            <a:srgbClr val="1F2755"/>
          </a:solidFill>
          <a:ln w="12700">
            <a:solidFill>
              <a:srgbClr val="2C356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2423160"/>
            <a:ext cx="2962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C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Dokończenie jednolitego rynku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2898648"/>
            <a:ext cx="29626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Walka o wspólny rynek usług i handlu internetowego: rynki zbytu dla polskich firm.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3803904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korzyść po stronie wzrostu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3400" y="2240280"/>
            <a:ext cx="3474720" cy="1874520"/>
          </a:xfrm>
          <a:prstGeom prst="roundRect">
            <a:avLst>
              <a:gd name="adj" fmla="val 4390"/>
            </a:avLst>
          </a:prstGeom>
          <a:solidFill>
            <a:srgbClr val="1F2755"/>
          </a:solidFill>
          <a:ln w="12700">
            <a:solidFill>
              <a:srgbClr val="2C356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99432" y="2423160"/>
            <a:ext cx="2962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C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Koalicje deregulacyjne w UE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99432" y="2898648"/>
            <a:ext cx="29626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Deregulację robimy też w Brukseli, budując koalicje przeciw kosztownym obowiązkom.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99432" y="3803904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niższe koszty dla firm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2240280"/>
            <a:ext cx="3474720" cy="1874520"/>
          </a:xfrm>
          <a:prstGeom prst="roundRect">
            <a:avLst>
              <a:gd name="adj" fmla="val 4390"/>
            </a:avLst>
          </a:prstGeom>
          <a:solidFill>
            <a:srgbClr val="1F2755"/>
          </a:solidFill>
          <a:ln w="12700">
            <a:solidFill>
              <a:srgbClr val="2C356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94192" y="2423160"/>
            <a:ext cx="2962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C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Sunset clause dla prawa UE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94192" y="2898648"/>
            <a:ext cx="29626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Przepisy unijne wygasają po ustalonym czasie, jeśli nie zostaną świadomie przedłużone.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94192" y="3803904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koniec narastania prawa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434840"/>
            <a:ext cx="3474720" cy="1874520"/>
          </a:xfrm>
          <a:prstGeom prst="roundRect">
            <a:avLst>
              <a:gd name="adj" fmla="val 4390"/>
            </a:avLst>
          </a:prstGeom>
          <a:solidFill>
            <a:srgbClr val="1F2755"/>
          </a:solidFill>
          <a:ln w="12700">
            <a:solidFill>
              <a:srgbClr val="2C356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04672" y="4617720"/>
            <a:ext cx="2962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C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Twardy cel w budżecie UE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4672" y="5093208"/>
            <a:ext cx="29626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Zamiast ogólników o powrocie do stołu, mierzalna kwota wsparcia dla Polski po 2027 r.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4672" y="5998464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strona dochodowa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343400" y="4434840"/>
            <a:ext cx="3474720" cy="1874520"/>
          </a:xfrm>
          <a:prstGeom prst="roundRect">
            <a:avLst>
              <a:gd name="adj" fmla="val 4390"/>
            </a:avLst>
          </a:prstGeom>
          <a:solidFill>
            <a:srgbClr val="1F2755"/>
          </a:solidFill>
          <a:ln w="12700">
            <a:solidFill>
              <a:srgbClr val="2C356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99432" y="4617720"/>
            <a:ext cx="2962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C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Dyplomacja ekonomiczna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99432" y="5093208"/>
            <a:ext cx="29626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Placówki pracują przede wszystkim na polski eksport, inwestycje i miejsca pracy.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99432" y="5998464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koszt marginalny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138160" y="4434840"/>
            <a:ext cx="3474720" cy="1874520"/>
          </a:xfrm>
          <a:prstGeom prst="roundRect">
            <a:avLst>
              <a:gd name="adj" fmla="val 4390"/>
            </a:avLst>
          </a:prstGeom>
          <a:solidFill>
            <a:srgbClr val="1F2755"/>
          </a:solidFill>
          <a:ln w="12700">
            <a:solidFill>
              <a:srgbClr val="2C356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394192" y="4617720"/>
            <a:ext cx="2962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C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Rozszerzenie UE jako interes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394192" y="5093208"/>
            <a:ext cx="29626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Ukraina, Mołdawia i Bałkany: większy wspólny rynek to zbyt i bezpieczeństwo dla Polski.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394192" y="5998464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osłoną dla rolnictwa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1D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37160" cy="1371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Shape 1"/>
          <p:cNvSpPr/>
          <p:nvPr/>
        </p:nvSpPr>
        <p:spPr>
          <a:xfrm>
            <a:off x="592531" y="610819"/>
            <a:ext cx="49378" cy="49378"/>
          </a:xfrm>
          <a:prstGeom prst="ellipse">
            <a:avLst/>
          </a:prstGeom>
          <a:solidFill>
            <a:srgbClr val="10173A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6C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TANIA ENERGIA, JASNE GRANICE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Realizm zamiast obietnic bez pokrycia.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5372100" cy="1874520"/>
          </a:xfrm>
          <a:prstGeom prst="roundRect">
            <a:avLst>
              <a:gd name="adj" fmla="val 4390"/>
            </a:avLst>
          </a:prstGeom>
          <a:solidFill>
            <a:srgbClr val="1F2755"/>
          </a:solidFill>
          <a:ln w="12700">
            <a:solidFill>
              <a:srgbClr val="2C356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2423160"/>
            <a:ext cx="48600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C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Tania ścieżka klimatyczna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2898648"/>
            <a:ext cx="48600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Walka w Europie o tańsze i wolniejsze tempo tam, gdzie uderza w portfele. Bez wyjścia z ETS, które dzieli Polaków.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3803904"/>
            <a:ext cx="48600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rachunek za prąd i ogrzewanie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40780" y="2240280"/>
            <a:ext cx="5372100" cy="1874520"/>
          </a:xfrm>
          <a:prstGeom prst="roundRect">
            <a:avLst>
              <a:gd name="adj" fmla="val 4390"/>
            </a:avLst>
          </a:prstGeom>
          <a:solidFill>
            <a:srgbClr val="1F2755"/>
          </a:solidFill>
          <a:ln w="12700">
            <a:solidFill>
              <a:srgbClr val="2C356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6812" y="2423160"/>
            <a:ext cx="48600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C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Atom jako oś energetyki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6812" y="2898648"/>
            <a:ext cx="48600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Energetyka jądrowa jako fundament taniej i stabilnej energii. Jedyny temat z poparciem ponad podziałami.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6812" y="3803904"/>
            <a:ext cx="48600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proc. poparcia (CBOS)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434840"/>
            <a:ext cx="5372100" cy="1874520"/>
          </a:xfrm>
          <a:prstGeom prst="roundRect">
            <a:avLst>
              <a:gd name="adj" fmla="val 4390"/>
            </a:avLst>
          </a:prstGeom>
          <a:solidFill>
            <a:srgbClr val="1F2755"/>
          </a:solidFill>
          <a:ln w="12700">
            <a:solidFill>
              <a:srgbClr val="2C356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4672" y="4617720"/>
            <a:ext cx="48600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C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Euro: decyzja obywateli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04672" y="5093208"/>
            <a:ext cx="48600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w tej kadencji. Warunek to zejście z deficytem poniżej 3 proc. PKB, a decyzję podejmują obywatele w referendum.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4672" y="5998464"/>
            <a:ext cx="48600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najpierw konsolidacja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40780" y="4434840"/>
            <a:ext cx="5372100" cy="1874520"/>
          </a:xfrm>
          <a:prstGeom prst="roundRect">
            <a:avLst>
              <a:gd name="adj" fmla="val 4390"/>
            </a:avLst>
          </a:prstGeom>
          <a:solidFill>
            <a:srgbClr val="1F2755"/>
          </a:solidFill>
          <a:ln w="12700">
            <a:solidFill>
              <a:srgbClr val="2C356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96812" y="4617720"/>
            <a:ext cx="48600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C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Ukraina na wzajemności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6812" y="5093208"/>
            <a:ext cx="48600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Utrzymujemy wsparcie, ale świadczenia socjalne dla tych, którzy pracują i płacą podatki w Polsce.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6812" y="5998464"/>
            <a:ext cx="48600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zasada, nie pogarda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1D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37160" cy="1371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Shape 1"/>
          <p:cNvSpPr/>
          <p:nvPr/>
        </p:nvSpPr>
        <p:spPr>
          <a:xfrm>
            <a:off x="592531" y="610819"/>
            <a:ext cx="49378" cy="49378"/>
          </a:xfrm>
          <a:prstGeom prst="ellipse">
            <a:avLst/>
          </a:prstGeom>
          <a:solidFill>
            <a:srgbClr val="10173A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6C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SKĄD PIENIĄDZE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Najpierw pokrycie, potem obietnica.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349240" cy="1207008"/>
          </a:xfrm>
          <a:prstGeom prst="roundRect">
            <a:avLst>
              <a:gd name="adj" fmla="val 6818"/>
            </a:avLst>
          </a:prstGeom>
          <a:solidFill>
            <a:srgbClr val="1F2755"/>
          </a:solidFill>
          <a:ln w="12700">
            <a:solidFill>
              <a:srgbClr val="2C356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45059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C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Konsolidacja funduszy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85292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12 mld zł rocznie taniej (NIK), 14,5 mld zł strat na równoległym budżecie (IFP).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2286000"/>
            <a:ext cx="5349240" cy="1207008"/>
          </a:xfrm>
          <a:prstGeom prst="roundRect">
            <a:avLst>
              <a:gd name="adj" fmla="val 6818"/>
            </a:avLst>
          </a:prstGeom>
          <a:solidFill>
            <a:srgbClr val="1F2755"/>
          </a:solidFill>
          <a:ln w="12700">
            <a:solidFill>
              <a:srgbClr val="2C356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245059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C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Przegląd ulg podatkowych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37960" y="285292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Historycznie ponad 65 mld zł rocznie na setkach przywilejów. Nawet ułamek finansuje flagowe obniżki.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5349240" cy="1207008"/>
          </a:xfrm>
          <a:prstGeom prst="roundRect">
            <a:avLst>
              <a:gd name="adj" fmla="val 6818"/>
            </a:avLst>
          </a:prstGeom>
          <a:solidFill>
            <a:srgbClr val="1F2755"/>
          </a:solidFill>
          <a:ln w="12700">
            <a:solidFill>
              <a:srgbClr val="2C356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382219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C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Tańszy dług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422452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Polska płaci od długu drugi najwyższy koszt w UE. Wiarygodność to realne miliardy mniej na odsetkach.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3657600"/>
            <a:ext cx="5349240" cy="1207008"/>
          </a:xfrm>
          <a:prstGeom prst="roundRect">
            <a:avLst>
              <a:gd name="adj" fmla="val 6818"/>
            </a:avLst>
          </a:prstGeom>
          <a:solidFill>
            <a:srgbClr val="1F2755"/>
          </a:solidFill>
          <a:ln w="12700">
            <a:solidFill>
              <a:srgbClr val="2C356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37960" y="382219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C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Realokacja obronna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37960" y="422452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79,5 mld zł przez fundusz poza budżetem. Konsolidacja i audyt odzyskują wartość z ~200 mld zł wydatków.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257800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1A214C"/>
          </a:solidFill>
          <a:ln w="12700">
            <a:solidFill>
              <a:srgbClr val="2C356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4400" y="54406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finansujemy obietnic z „uszczelnienia” luki VAT: ta rezerwa jest wyczerpana (4,9 proc. w 2025 r.). Każda pozycja programu dostaje własny kosztorys przed publikacją.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1D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37160" cy="1371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Shape 1"/>
          <p:cNvSpPr/>
          <p:nvPr/>
        </p:nvSpPr>
        <p:spPr>
          <a:xfrm>
            <a:off x="592531" y="610819"/>
            <a:ext cx="49378" cy="49378"/>
          </a:xfrm>
          <a:prstGeom prst="ellipse">
            <a:avLst/>
          </a:prstGeom>
          <a:solidFill>
            <a:srgbClr val="10173A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6C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GWARANCJE NEGATYWNE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Czego nie zrobimy.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94360" y="2249424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21488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podnosimy stawek CIT, VAT ani PIT przez całą kadencję.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2798064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932688" y="26974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likwidujemy 800 plus. Wprowadzamy tylko warunek aktywności, nie cięcie.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3346704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932688" y="32461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ruszamy 13. i 14. emerytury.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" y="3895344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932688" y="37947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wychodzimy z Unii Europejskiej ani nie kontestujemy członkostwa.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" y="4443984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932688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wychodzimy z systemu ETS. Renegocjujemy tempo i koszty.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94360" y="4992624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/>
          <p:nvPr/>
        </p:nvSpPr>
        <p:spPr>
          <a:xfrm>
            <a:off x="932688" y="48920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 tylko po spełnieniu kryteriów i za zgodą obywateli w referendum.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94360" y="5541264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9" name="Text 17"/>
          <p:cNvSpPr/>
          <p:nvPr/>
        </p:nvSpPr>
        <p:spPr>
          <a:xfrm>
            <a:off x="932688" y="54406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finansujemy obietnic z wyczerpanej luki VAT.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94360" y="6089904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/>
          <p:nvPr/>
        </p:nvSpPr>
        <p:spPr>
          <a:xfrm>
            <a:off x="932688" y="5989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prowadzimy wojny światopoglądowej i nie okazujemy pogardy wyborcom innych formacji.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Shape 1"/>
          <p:cNvSpPr/>
          <p:nvPr/>
        </p:nvSpPr>
        <p:spPr>
          <a:xfrm>
            <a:off x="613014" y="613014"/>
            <a:ext cx="72420" cy="72420"/>
          </a:xfrm>
          <a:prstGeom prst="ellipse">
            <a:avLst/>
          </a:prstGeom>
          <a:solidFill>
            <a:srgbClr val="10173A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" y="5303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6C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POZYCJONOWANIE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Wolnościowiec, który umie liczyć.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356616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6C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Jedyna formacja, która mówi jednocześnie: obniżymy daniny, pokażemy rachunek co do pozycji i zrobimy to w Europie, a nie przeciw niej.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5029200"/>
            <a:ext cx="344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Wobec Konfederacji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5349240"/>
            <a:ext cx="344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same kierunki podatkowe, ale z bilansem i bez wojny z UE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58640" y="5029200"/>
            <a:ext cx="344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Wobec KO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58640" y="5349240"/>
            <a:ext cx="344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konkrety z kosztorysem zamiast obietnic bez pokrycia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68640" y="5029200"/>
            <a:ext cx="344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Wobec Trzeciej Drogi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68640" y="5349240"/>
            <a:ext cx="344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ambicja reformatorska zamiast samego umiaru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Draft programu wyborczego</dc:title>
  <dc:subject>PptxGenJS Presentation</dc:subject>
  <dc:creator>Argus</dc:creator>
  <cp:lastModifiedBy>Argus</cp:lastModifiedBy>
  <cp:revision>1</cp:revision>
  <dcterms:created xsi:type="dcterms:W3CDTF">2026-07-25T21:33:39Z</dcterms:created>
  <dcterms:modified xsi:type="dcterms:W3CDTF">2026-07-25T21:33:39Z</dcterms:modified>
</cp:coreProperties>
</file>